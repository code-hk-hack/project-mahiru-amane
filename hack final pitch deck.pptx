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330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human problem: people speak constantly but fail to communicate assertively. Highlight the 73% anxiety statistic. Emphasize that passive language quietly destroys opportunity, and that current tools are either dull or expensive. Set up the need for a real-time, engaging, affordable coach.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Mahiru as the warm coach and Amane as the sharp challenger. Walk through the loop: user speaks, AI replies under one second, Analyst Agent scores passiveness, apologies and hesitations in the background. Mention the dashboard and 10 Indian language support as differentiators.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the latency-first architecture. Groq gives near-instant Llama-3 inference. Gnani handles Indian-language voice natively. Alchemyst MCP supplies coaching rubrics via RAG. Supabase stores sessions and analytics. Deployed on Vercel + Render for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 with Gnani and Alchemyst as live integrations that unlock real-time Indian voice and grounded scoring. Then preview Keploy for reliability, Mem0 for long-term memory, and Slashy for agentic actions — showing a clear ecosystem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market size: $15.6B soft skills market by 2030. India alone has massive TAM with 550M speakers and 10M placement candidates. Position Aura AI as the engaging, multilingual, real-time alternative. GTM starts with campuses and EdTech.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roblem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822960"/>
            <a:ext cx="5212080" cy="5212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92240" y="822960"/>
            <a:ext cx="411480" cy="5212080"/>
          </a:xfrm>
          <a:prstGeom prst="rect">
            <a:avLst/>
          </a:prstGeom>
          <a:solidFill>
            <a:srgbClr val="0B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0" y="822960"/>
            <a:ext cx="5212080" cy="365760"/>
          </a:xfrm>
          <a:prstGeom prst="rect">
            <a:avLst/>
          </a:prstGeom>
          <a:solidFill>
            <a:srgbClr val="0B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92240" y="5669280"/>
            <a:ext cx="5212080" cy="365760"/>
          </a:xfrm>
          <a:prstGeom prst="rect">
            <a:avLst/>
          </a:prstGeom>
          <a:solidFill>
            <a:srgbClr val="0B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74320"/>
            <a:ext cx="5943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C44A"/>
                </a:solidFill>
                <a:latin typeface="Calibri"/>
              </a:defRPr>
            </a:pPr>
            <a:r>
              <a:rPr sz="1600" dirty="0"/>
              <a:t>AURA AI  ·  PROJECT MAHIRU / AMANE</a:t>
            </a:r>
          </a:p>
        </p:txBody>
      </p:sp>
      <p:sp>
        <p:nvSpPr>
          <p:cNvPr id="9" name="Rectangle 8"/>
          <p:cNvSpPr/>
          <p:nvPr/>
        </p:nvSpPr>
        <p:spPr>
          <a:xfrm flipV="1">
            <a:off x="594360" y="594360"/>
            <a:ext cx="3520440" cy="45720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868680"/>
            <a:ext cx="5760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800" b="1">
                <a:solidFill>
                  <a:srgbClr val="F5F5F7"/>
                </a:solidFill>
                <a:latin typeface="Calibri"/>
              </a:defRPr>
            </a:pPr>
            <a:r>
              <a:rPr dirty="0"/>
              <a:t>We Speak,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760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800" b="1">
                <a:solidFill>
                  <a:srgbClr val="E8C44A"/>
                </a:solidFill>
                <a:latin typeface="Calibri"/>
              </a:defRPr>
            </a:pPr>
            <a:r>
              <a:t>But We Don't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74519"/>
            <a:ext cx="5760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800" b="1">
                <a:solidFill>
                  <a:srgbClr val="E8C44A"/>
                </a:solidFill>
                <a:latin typeface="Calibri"/>
              </a:defRPr>
            </a:pPr>
            <a:r>
              <a:t>Communicate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560320"/>
            <a:ext cx="5669280" cy="105156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97480"/>
            <a:ext cx="15544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4000" b="1">
                <a:solidFill>
                  <a:srgbClr val="E8C44A"/>
                </a:solidFill>
                <a:latin typeface="Calibri"/>
              </a:defRPr>
            </a:pPr>
            <a:r>
              <a:t>73%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743200"/>
            <a:ext cx="36576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0">
                <a:solidFill>
                  <a:srgbClr val="9A9AAB"/>
                </a:solidFill>
                <a:latin typeface="Calibri"/>
              </a:defRPr>
            </a:pPr>
            <a:r>
              <a:rPr sz="1600" dirty="0"/>
              <a:t>of professionals report anxiety</a:t>
            </a:r>
            <a:br>
              <a:rPr sz="1600" dirty="0"/>
            </a:br>
            <a:r>
              <a:rPr sz="1600" dirty="0"/>
              <a:t>around high-stakes conversations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840480"/>
            <a:ext cx="5669280" cy="658368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3986784"/>
            <a:ext cx="502920" cy="365760"/>
          </a:xfrm>
          <a:prstGeom prst="roundRect">
            <a:avLst>
              <a:gd name="adj" fmla="val 8000"/>
            </a:avLst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005072"/>
            <a:ext cx="502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0B0B1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13632"/>
            <a:ext cx="4663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rPr sz="1600" dirty="0"/>
              <a:t>Passive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187952"/>
            <a:ext cx="4663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"I think maybe…", "Sorry, but…" kills credibility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590288"/>
            <a:ext cx="5669280" cy="658368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20" y="473659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502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0B0B1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663440"/>
            <a:ext cx="4663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rPr sz="1600" dirty="0"/>
              <a:t>Boring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937760"/>
            <a:ext cx="4663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Flashcard apps or expensive human coaches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340096"/>
            <a:ext cx="5669280" cy="658368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5486400"/>
            <a:ext cx="502920" cy="365760"/>
          </a:xfrm>
          <a:prstGeom prst="roundRect">
            <a:avLst>
              <a:gd name="adj" fmla="val 8000"/>
            </a:avLst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504688"/>
            <a:ext cx="502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0B0B1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413248"/>
            <a:ext cx="4663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rPr lang="en-IN" sz="1600" dirty="0"/>
              <a:t>Missing Product</a:t>
            </a:r>
            <a:endParaRPr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1371600" y="5687568"/>
            <a:ext cx="4663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No affordable, real-time assertive speech trainer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1051560"/>
            <a:ext cx="1828800" cy="438912"/>
          </a:xfrm>
          <a:prstGeom prst="roundRect">
            <a:avLst>
              <a:gd name="adj" fmla="val 8000"/>
            </a:avLst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1124712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F5E6A8"/>
                </a:solidFill>
                <a:latin typeface="Calibri"/>
              </a:defRPr>
            </a:pPr>
            <a:r>
              <a:t>"Sorry…"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20" y="1737360"/>
            <a:ext cx="1554480" cy="438912"/>
          </a:xfrm>
          <a:prstGeom prst="roundRect">
            <a:avLst>
              <a:gd name="adj" fmla="val 8000"/>
            </a:avLst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18320" y="1810512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F5E6A8"/>
                </a:solidFill>
                <a:latin typeface="Calibri"/>
              </a:defRPr>
            </a:pPr>
            <a:r>
              <a:t>"Um…"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40" y="5349240"/>
            <a:ext cx="2286000" cy="438912"/>
          </a:xfrm>
          <a:prstGeom prst="roundRect">
            <a:avLst>
              <a:gd name="adj" fmla="val 8000"/>
            </a:avLst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49440" y="5422392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F5E6A8"/>
                </a:solidFill>
                <a:latin typeface="Calibri"/>
              </a:defRPr>
            </a:pPr>
            <a:r>
              <a:t>"I think maybe…"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4709160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35440" y="4782312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F5E6A8"/>
                </a:solidFill>
                <a:latin typeface="Calibri"/>
              </a:defRPr>
            </a:pPr>
            <a:r>
              <a:t>"Is this okay?"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B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C44A"/>
                </a:solidFill>
                <a:latin typeface="Calibri"/>
              </a:defRPr>
            </a:pPr>
            <a:r>
              <a:rPr sz="1600" dirty="0"/>
              <a:t>AURA AI  ·  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941832" cy="45719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5F5F7"/>
                </a:solidFill>
                <a:latin typeface="Calibri"/>
              </a:defRPr>
            </a:pPr>
            <a:r>
              <a:t>Meet Mahiru &amp; Amane — Your AI Confidence Coaches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246120" cy="502920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ahi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2880360" cy="3566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212080"/>
            <a:ext cx="3246120" cy="12344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2880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8C44A"/>
                </a:solidFill>
                <a:latin typeface="Calibri"/>
              </a:defRPr>
            </a:pPr>
            <a:r>
              <a:t>MAHIRU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15000"/>
            <a:ext cx="2880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Warm · Empathetic · Supportive</a:t>
            </a:r>
            <a:br>
              <a:rPr sz="1400" dirty="0"/>
            </a:br>
            <a:r>
              <a:rPr sz="1400" dirty="0"/>
              <a:t>Gentle confidence building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17320"/>
            <a:ext cx="3246120" cy="502920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am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600200"/>
            <a:ext cx="2880360" cy="35661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840480" y="5212080"/>
            <a:ext cx="3246120" cy="12344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3360" y="5349240"/>
            <a:ext cx="2880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8B6BC9"/>
                </a:solidFill>
                <a:latin typeface="Calibri"/>
              </a:defRPr>
            </a:pPr>
            <a:r>
              <a:t>AMANE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5715000"/>
            <a:ext cx="2880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Direct · Sharp · Challenging</a:t>
            </a:r>
            <a:br>
              <a:rPr sz="1400" dirty="0"/>
            </a:br>
            <a:r>
              <a:rPr sz="1400" dirty="0"/>
              <a:t>Pressure-test your assertiveness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1417320"/>
            <a:ext cx="4480560" cy="502920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1600200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8C44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9" name="Oval 18"/>
          <p:cNvSpPr/>
          <p:nvPr/>
        </p:nvSpPr>
        <p:spPr>
          <a:xfrm>
            <a:off x="7543800" y="2130552"/>
            <a:ext cx="164592" cy="164592"/>
          </a:xfrm>
          <a:prstGeom prst="ellipse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rPr sz="1600" dirty="0"/>
              <a:t>Real-Time Voice Coaching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350008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Speak naturally → AI listens, analyses &amp; replies in under 1 second</a:t>
            </a:r>
          </a:p>
        </p:txBody>
      </p:sp>
      <p:sp>
        <p:nvSpPr>
          <p:cNvPr id="22" name="Oval 21"/>
          <p:cNvSpPr/>
          <p:nvPr/>
        </p:nvSpPr>
        <p:spPr>
          <a:xfrm>
            <a:off x="7543800" y="3090672"/>
            <a:ext cx="164592" cy="164592"/>
          </a:xfrm>
          <a:prstGeom prst="ellipse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0" y="301752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rPr sz="1600" dirty="0"/>
              <a:t>Silent Analyst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310127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Scores every reply: Passiveness 0–10 · Apologies · Hesitations</a:t>
            </a:r>
          </a:p>
        </p:txBody>
      </p:sp>
      <p:sp>
        <p:nvSpPr>
          <p:cNvPr id="25" name="Oval 24"/>
          <p:cNvSpPr/>
          <p:nvPr/>
        </p:nvSpPr>
        <p:spPr>
          <a:xfrm>
            <a:off x="7543800" y="4050791"/>
            <a:ext cx="164592" cy="164592"/>
          </a:xfrm>
          <a:prstGeom prst="ellipse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3977639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rPr sz="1600" dirty="0"/>
              <a:t>Progress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270248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Track improvement across sessions with clear metrics</a:t>
            </a:r>
          </a:p>
        </p:txBody>
      </p:sp>
      <p:sp>
        <p:nvSpPr>
          <p:cNvPr id="28" name="Oval 27"/>
          <p:cNvSpPr/>
          <p:nvPr/>
        </p:nvSpPr>
        <p:spPr>
          <a:xfrm>
            <a:off x="7543800" y="5010912"/>
            <a:ext cx="164592" cy="164592"/>
          </a:xfrm>
          <a:prstGeom prst="ellipse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0" y="4937759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rPr sz="1600" dirty="0"/>
              <a:t>10 Indian Languages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230368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Native STT + TTS so practice feels natural, not foreign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0" y="5705857"/>
            <a:ext cx="4023360" cy="640080"/>
          </a:xfrm>
          <a:prstGeom prst="roundRect">
            <a:avLst>
              <a:gd name="adj" fmla="val 8000"/>
            </a:avLst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7680960" y="5833872"/>
            <a:ext cx="3657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5E6A8"/>
                </a:solidFill>
                <a:latin typeface="Calibri"/>
              </a:defRPr>
            </a:pPr>
            <a:r>
              <a:rPr sz="1200" dirty="0"/>
              <a:t>Live  ·  Passiveness 3.2  ·  Apologies 1  ·  Hesitations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B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C44A"/>
                </a:solidFill>
                <a:latin typeface="Calibri"/>
              </a:defRPr>
            </a:pPr>
            <a:r>
              <a:rPr sz="1600" dirty="0"/>
              <a:t>AURA AI  · 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987552" cy="54864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5F5F7"/>
                </a:solidFill>
                <a:latin typeface="Calibri"/>
              </a:defRPr>
            </a:pPr>
            <a:r>
              <a:t>Built for Speed, Scale, and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E8C44A"/>
                </a:solidFill>
                <a:latin typeface="Calibri"/>
              </a:defRPr>
            </a:pPr>
            <a:r>
              <a:rPr lang="en-IN" sz="1600" dirty="0"/>
              <a:t>USER</a:t>
            </a:r>
            <a:endParaRPr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1417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Voice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7373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8C44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50876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14600" y="1600200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E8C44A"/>
                </a:solidFill>
                <a:latin typeface="Calibri"/>
              </a:defRPr>
            </a:pPr>
            <a:r>
              <a:rPr sz="1600" dirty="0"/>
              <a:t>STT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65960"/>
            <a:ext cx="1417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Gnani.ai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7373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8C44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50876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1600200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E8C44A"/>
                </a:solidFill>
                <a:latin typeface="Calibri"/>
              </a:defRPr>
            </a:pPr>
            <a:r>
              <a:rPr sz="1600" dirty="0"/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965960"/>
            <a:ext cx="1417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A9AAB"/>
                </a:solidFill>
                <a:latin typeface="Calibri"/>
              </a:defRPr>
            </a:pPr>
            <a:r>
              <a:rPr sz="1400" dirty="0" err="1"/>
              <a:t>Groq</a:t>
            </a:r>
            <a:r>
              <a:rPr sz="1400" dirty="0"/>
              <a:t> Llama-3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7373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8C44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50876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1600200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E8C44A"/>
                </a:solidFill>
                <a:latin typeface="Calibri"/>
              </a:defRPr>
            </a:pPr>
            <a:r>
              <a:rPr sz="1600" dirty="0"/>
              <a:t>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965960"/>
            <a:ext cx="1417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Score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17373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8C44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50876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01000" y="1600200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E8C44A"/>
                </a:solidFill>
                <a:latin typeface="Calibri"/>
              </a:defRPr>
            </a:pPr>
            <a:r>
              <a:rPr sz="1600" dirty="0"/>
              <a:t>TTS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1965960"/>
            <a:ext cx="1417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Character 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17373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8C44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150876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29800" y="1600200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E8C44A"/>
                </a:solidFill>
                <a:latin typeface="Calibri"/>
              </a:defRPr>
            </a:pPr>
            <a:r>
              <a:rPr sz="1600" dirty="0"/>
              <a:t>DASH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1965960"/>
            <a:ext cx="1417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A9AAB"/>
                </a:solidFill>
                <a:latin typeface="Calibri"/>
              </a:defRPr>
            </a:pPr>
            <a:r>
              <a:rPr sz="1400" dirty="0" err="1"/>
              <a:t>Supabase</a:t>
            </a:r>
            <a:endParaRPr sz="1400" dirty="0"/>
          </a:p>
        </p:txBody>
      </p:sp>
      <p:sp>
        <p:nvSpPr>
          <p:cNvPr id="31" name="Rounded Rectangle 30"/>
          <p:cNvSpPr/>
          <p:nvPr/>
        </p:nvSpPr>
        <p:spPr>
          <a:xfrm>
            <a:off x="502920" y="283464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2834640"/>
            <a:ext cx="2651760" cy="45720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67512" y="3017520"/>
            <a:ext cx="502920" cy="292608"/>
          </a:xfrm>
          <a:prstGeom prst="roundRect">
            <a:avLst>
              <a:gd name="adj" fmla="val 8000"/>
            </a:avLst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" y="3035808"/>
            <a:ext cx="502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B0B10"/>
                </a:solidFill>
                <a:latin typeface="Calibri"/>
              </a:defRPr>
            </a:pPr>
            <a:r>
              <a:t>FE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017520"/>
            <a:ext cx="1737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474720"/>
            <a:ext cx="22860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A9AAB"/>
                </a:solidFill>
                <a:latin typeface="Calibri"/>
              </a:defRPr>
            </a:pPr>
            <a:r>
              <a:t>Next.js 15 + Tailwind</a:t>
            </a:r>
            <a:br/>
            <a:r>
              <a:t>+ Framer Motion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283464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37560" y="2834640"/>
            <a:ext cx="2651760" cy="45720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502152" y="3017520"/>
            <a:ext cx="502920" cy="292608"/>
          </a:xfrm>
          <a:prstGeom prst="roundRect">
            <a:avLst>
              <a:gd name="adj" fmla="val 8000"/>
            </a:avLst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02152" y="3035808"/>
            <a:ext cx="502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B0B10"/>
                </a:solidFill>
                <a:latin typeface="Calibri"/>
              </a:defRPr>
            </a:pPr>
            <a:r>
              <a:t>BE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3017520"/>
            <a:ext cx="1737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3474720"/>
            <a:ext cx="22860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A9AAB"/>
                </a:solidFill>
                <a:latin typeface="Calibri"/>
              </a:defRPr>
            </a:pPr>
            <a:r>
              <a:t>Python FastAPI</a:t>
            </a:r>
            <a:br/>
            <a:r>
              <a:t>WebSocket streaming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283464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72200" y="2834640"/>
            <a:ext cx="2651760" cy="45720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336792" y="3017520"/>
            <a:ext cx="502920" cy="292608"/>
          </a:xfrm>
          <a:prstGeom prst="roundRect">
            <a:avLst>
              <a:gd name="adj" fmla="val 8000"/>
            </a:avLst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36792" y="3035808"/>
            <a:ext cx="502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B0B10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3017520"/>
            <a:ext cx="1737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3474720"/>
            <a:ext cx="22860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A9AAB"/>
                </a:solidFill>
                <a:latin typeface="Calibri"/>
              </a:defRPr>
            </a:pPr>
            <a:r>
              <a:t>Groq API · Llama-3 70B</a:t>
            </a:r>
            <a:br/>
            <a:r>
              <a:t>Near-zero latency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06840" y="283464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006840" y="2834640"/>
            <a:ext cx="2651760" cy="45720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171432" y="3017520"/>
            <a:ext cx="502920" cy="292608"/>
          </a:xfrm>
          <a:prstGeom prst="roundRect">
            <a:avLst>
              <a:gd name="adj" fmla="val 8000"/>
            </a:avLst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71432" y="3035808"/>
            <a:ext cx="502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B0B10"/>
                </a:solidFill>
                <a:latin typeface="Calibri"/>
              </a:defRPr>
            </a:pPr>
            <a:r>
              <a:t>VO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3017520"/>
            <a:ext cx="1737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t>Voice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20" y="3474720"/>
            <a:ext cx="22860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A9AAB"/>
                </a:solidFill>
                <a:latin typeface="Calibri"/>
              </a:defRPr>
            </a:pPr>
            <a:r>
              <a:t>Gnani.ai STT + TTS</a:t>
            </a:r>
            <a:br/>
            <a:r>
              <a:t>Indian-language native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457200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02920" y="4572000"/>
            <a:ext cx="2651760" cy="45720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67512" y="4754880"/>
            <a:ext cx="502920" cy="292608"/>
          </a:xfrm>
          <a:prstGeom prst="roundRect">
            <a:avLst>
              <a:gd name="adj" fmla="val 8000"/>
            </a:avLst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7512" y="4773168"/>
            <a:ext cx="502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B0B10"/>
                </a:solidFill>
                <a:latin typeface="Calibri"/>
              </a:defRPr>
            </a:pPr>
            <a:r>
              <a:t>KB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60" y="4754880"/>
            <a:ext cx="1737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t>Memory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212080"/>
            <a:ext cx="22860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A9AAB"/>
                </a:solidFill>
                <a:latin typeface="Calibri"/>
              </a:defRPr>
            </a:pPr>
            <a:r>
              <a:t>Alchemyst AI MCP</a:t>
            </a:r>
            <a:br/>
            <a:r>
              <a:t>RAG coaching knowledge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37560" y="457200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337560" y="4572000"/>
            <a:ext cx="2651760" cy="45720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502152" y="4754880"/>
            <a:ext cx="502920" cy="292608"/>
          </a:xfrm>
          <a:prstGeom prst="roundRect">
            <a:avLst>
              <a:gd name="adj" fmla="val 8000"/>
            </a:avLst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502152" y="4773168"/>
            <a:ext cx="502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B0B10"/>
                </a:solidFill>
                <a:latin typeface="Calibri"/>
              </a:defRPr>
            </a:pPr>
            <a:r>
              <a:t>DB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0" y="4754880"/>
            <a:ext cx="1737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20440" y="5212080"/>
            <a:ext cx="22860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A9AAB"/>
                </a:solidFill>
                <a:latin typeface="Calibri"/>
              </a:defRPr>
            </a:pPr>
            <a:r>
              <a:t>Supabase PostgreSQL</a:t>
            </a:r>
            <a:br/>
            <a:r>
              <a:t>Auth · Sessions · Analytics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72200" y="457200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172200" y="4572000"/>
            <a:ext cx="2651760" cy="45720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336792" y="4754880"/>
            <a:ext cx="502920" cy="292608"/>
          </a:xfrm>
          <a:prstGeom prst="roundRect">
            <a:avLst>
              <a:gd name="adj" fmla="val 8000"/>
            </a:avLst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36792" y="4773168"/>
            <a:ext cx="502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B0B10"/>
                </a:solidFill>
                <a:latin typeface="Calibri"/>
              </a:defRPr>
            </a:pPr>
            <a:r>
              <a:t>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9440" y="4754880"/>
            <a:ext cx="1737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t>Deploy FE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55080" y="5212080"/>
            <a:ext cx="22860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A9AAB"/>
                </a:solidFill>
                <a:latin typeface="Calibri"/>
              </a:defRPr>
            </a:pPr>
            <a:r>
              <a:t>Vercel</a:t>
            </a:r>
            <a:br/>
            <a:r>
              <a:t>Edge-ready frontend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06840" y="457200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006840" y="4572000"/>
            <a:ext cx="2651760" cy="45720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9171432" y="4754880"/>
            <a:ext cx="502920" cy="292608"/>
          </a:xfrm>
          <a:prstGeom prst="roundRect">
            <a:avLst>
              <a:gd name="adj" fmla="val 8000"/>
            </a:avLst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171432" y="4773168"/>
            <a:ext cx="502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B0B10"/>
                </a:solidFill>
                <a:latin typeface="Calibri"/>
              </a:defRPr>
            </a:pPr>
            <a:r>
              <a:t>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84080" y="4754880"/>
            <a:ext cx="1737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t>Deploy BE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89720" y="5212080"/>
            <a:ext cx="22860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A9AAB"/>
                </a:solidFill>
                <a:latin typeface="Calibri"/>
              </a:defRPr>
            </a:pPr>
            <a:r>
              <a:t>Render</a:t>
            </a:r>
            <a:br/>
            <a:r>
              <a:t>Scalable API workers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B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C44A"/>
                </a:solidFill>
                <a:latin typeface="Calibri"/>
              </a:defRPr>
            </a:pPr>
            <a:r>
              <a:rPr sz="1600" dirty="0"/>
              <a:t>AURA AI  ·  PARTNERS &amp;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960120" cy="54864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5F5F7"/>
                </a:solidFill>
                <a:latin typeface="Calibri"/>
              </a:defRPr>
            </a:pPr>
            <a:r>
              <a:t>Powered by the Best Tools in the Ecosystem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2331720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E8C44A"/>
                </a:solidFill>
                <a:latin typeface="Calibri"/>
              </a:defRPr>
            </a:pPr>
            <a:r>
              <a:rPr dirty="0"/>
              <a:t>GNANI.AI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rPr sz="1600" dirty="0"/>
              <a:t>Real-time WebSocket STT + Streaming TTS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49377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Audio chunks stream live — the character starts speaking before the sentence is fully synthesized. India-native voice models power 10 languages with natural prosody.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91440" cy="2331720"/>
          </a:xfrm>
          <a:prstGeom prst="rect">
            <a:avLst/>
          </a:prstGeom>
          <a:solidFill>
            <a:srgbClr val="8B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8B6BC9"/>
                </a:solidFill>
                <a:latin typeface="Calibri"/>
              </a:defRPr>
            </a:pPr>
            <a:r>
              <a:rPr dirty="0"/>
              <a:t>ALCHEMYST AI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6596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F5F7"/>
                </a:solidFill>
                <a:latin typeface="Calibri"/>
              </a:defRPr>
            </a:pPr>
            <a:r>
              <a:rPr sz="1600" dirty="0"/>
              <a:t>RAG Coaching Knowledge via Model Context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77440"/>
            <a:ext cx="49377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Gives the agent a communication-framework knowledge base. The Analyst pulls relevant coaching rubrics before scoring every reply — grounded, consistent feedback.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8C44A"/>
                </a:solidFill>
                <a:latin typeface="Calibri"/>
              </a:defRPr>
            </a:pPr>
            <a:r>
              <a:rPr lang="en-IN" sz="1600" dirty="0"/>
              <a:t>ROADMAP INTEGRATIONS</a:t>
            </a:r>
            <a:endParaRPr sz="1600" dirty="0"/>
          </a:p>
        </p:txBody>
      </p:sp>
      <p:sp>
        <p:nvSpPr>
          <p:cNvPr id="18" name="Rounded Rectangle 17"/>
          <p:cNvSpPr/>
          <p:nvPr/>
        </p:nvSpPr>
        <p:spPr>
          <a:xfrm>
            <a:off x="457200" y="43434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3657600" cy="45720"/>
          </a:xfrm>
          <a:prstGeom prst="rect">
            <a:avLst/>
          </a:prstGeom>
          <a:solidFill>
            <a:srgbClr val="B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4526280"/>
            <a:ext cx="868680" cy="274320"/>
          </a:xfrm>
          <a:prstGeom prst="roundRect">
            <a:avLst>
              <a:gd name="adj" fmla="val 8000"/>
            </a:avLst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544568"/>
            <a:ext cx="868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E8C44A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5F5F7"/>
                </a:solidFill>
                <a:latin typeface="Calibri"/>
              </a:defRPr>
            </a:pPr>
            <a:r>
              <a:t>Keploy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Auto-generate API regression tests from real traffic on /chat, /voice/</a:t>
            </a:r>
            <a:r>
              <a:rPr sz="1400" dirty="0" err="1"/>
              <a:t>stt</a:t>
            </a:r>
            <a:r>
              <a:rPr sz="1400" dirty="0"/>
              <a:t>, /analyst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3434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80" y="4343400"/>
            <a:ext cx="3657600" cy="45720"/>
          </a:xfrm>
          <a:prstGeom prst="rect">
            <a:avLst/>
          </a:prstGeom>
          <a:solidFill>
            <a:srgbClr val="B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80560" y="4526280"/>
            <a:ext cx="868680" cy="274320"/>
          </a:xfrm>
          <a:prstGeom prst="roundRect">
            <a:avLst>
              <a:gd name="adj" fmla="val 8000"/>
            </a:avLst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4544568"/>
            <a:ext cx="868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E8C44A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9377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5F5F7"/>
                </a:solidFill>
                <a:latin typeface="Calibri"/>
              </a:defRPr>
            </a:pPr>
            <a:r>
              <a:t>Mem0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34924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Persistent long-term memory — AI remembers coaching history across months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3434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60" y="4343400"/>
            <a:ext cx="3657600" cy="45720"/>
          </a:xfrm>
          <a:prstGeom prst="rect">
            <a:avLst/>
          </a:prstGeom>
          <a:solidFill>
            <a:srgbClr val="B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321040" y="4526280"/>
            <a:ext cx="868680" cy="274320"/>
          </a:xfrm>
          <a:prstGeom prst="roundRect">
            <a:avLst>
              <a:gd name="adj" fmla="val 8000"/>
            </a:avLst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4544568"/>
            <a:ext cx="868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E8C44A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9377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5F5F7"/>
                </a:solidFill>
                <a:latin typeface="Calibri"/>
              </a:defRPr>
            </a:pPr>
            <a:r>
              <a:t>Slashy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34924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Agentic tool execution: book sessions, PDF reports, milestone webhooks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B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C44A"/>
                </a:solidFill>
                <a:latin typeface="Calibri"/>
              </a:defRPr>
            </a:pPr>
            <a:r>
              <a:t>AURA AI  ·  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02920" cy="54864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5F5F7"/>
                </a:solidFill>
                <a:latin typeface="Calibri"/>
              </a:defRPr>
            </a:pPr>
            <a:r>
              <a:t>A $15B Problem Nobody Has Solved Well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54864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E8C44A"/>
                </a:solidFill>
                <a:latin typeface="Calibri"/>
              </a:defRPr>
            </a:pPr>
            <a:r>
              <a:t>$15.6B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5F5F7"/>
                </a:solidFill>
                <a:latin typeface="Calibri"/>
              </a:defRPr>
            </a:pPr>
            <a:r>
              <a:rPr sz="1600" dirty="0"/>
              <a:t>Soft Skills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by 2030 · CAGR 12.3%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57600" cy="54864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60020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E8C44A"/>
                </a:solidFill>
                <a:latin typeface="Calibri"/>
              </a:defRPr>
            </a:pPr>
            <a:r>
              <a:t>550M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860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5F5F7"/>
                </a:solidFill>
                <a:latin typeface="Calibri"/>
              </a:defRPr>
            </a:pPr>
            <a:r>
              <a:t>Speakers in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5176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English + regional languages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657600" cy="54864"/>
          </a:xfrm>
          <a:prstGeom prst="rect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160020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E8C44A"/>
                </a:solidFill>
                <a:latin typeface="Calibri"/>
              </a:defRPr>
            </a:pPr>
            <a:r>
              <a:t>10M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2860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5F5F7"/>
                </a:solidFill>
                <a:latin typeface="Calibri"/>
              </a:defRPr>
            </a:pPr>
            <a:r>
              <a:t>Campus Placements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5176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A9AAB"/>
                </a:solidFill>
                <a:latin typeface="Calibri"/>
              </a:defRPr>
            </a:pPr>
            <a:r>
              <a:rPr sz="1400" dirty="0"/>
              <a:t>students annually in India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74720"/>
            <a:ext cx="5486400" cy="288036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70332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8C44A"/>
                </a:solidFill>
                <a:latin typeface="Calibri"/>
              </a:defRPr>
            </a:pPr>
            <a:r>
              <a:rPr sz="1400" dirty="0"/>
              <a:t>TARGET USERS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233672"/>
            <a:ext cx="128016" cy="128016"/>
          </a:xfrm>
          <a:prstGeom prst="ellipse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41605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5F5F7"/>
                </a:solidFill>
                <a:latin typeface="Calibri"/>
              </a:defRPr>
            </a:pPr>
            <a:r>
              <a:rPr dirty="0"/>
              <a:t>College students preparing for placements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4690872"/>
            <a:ext cx="128016" cy="128016"/>
          </a:xfrm>
          <a:prstGeom prst="ellipse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46177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5F5F7"/>
                </a:solidFill>
                <a:latin typeface="Calibri"/>
              </a:defRPr>
            </a:pPr>
            <a:r>
              <a:t>Early professionals in high-stakes roles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5148072"/>
            <a:ext cx="128016" cy="128016"/>
          </a:xfrm>
          <a:prstGeom prst="ellipse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50749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5F5F7"/>
                </a:solidFill>
                <a:latin typeface="Calibri"/>
              </a:defRPr>
            </a:pPr>
            <a:r>
              <a:t>Non-native English speakers building confidence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5605272"/>
            <a:ext cx="128016" cy="128016"/>
          </a:xfrm>
          <a:prstGeom prst="ellipse">
            <a:avLst/>
          </a:prstGeom>
          <a:solidFill>
            <a:srgbClr val="E8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55321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5F5F7"/>
                </a:solidFill>
                <a:latin typeface="Calibri"/>
              </a:defRPr>
            </a:pPr>
            <a:r>
              <a:t>Interview preppers seeking real-time practice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474720"/>
            <a:ext cx="5486400" cy="288036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370332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8C44A"/>
                </a:solidFill>
                <a:latin typeface="Calibri"/>
              </a:defRPr>
            </a:pPr>
            <a:r>
              <a:rPr sz="1400" dirty="0"/>
              <a:t>GO-TO-MARKET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160520"/>
            <a:ext cx="411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8C44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16052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5F5F7"/>
                </a:solidFill>
                <a:latin typeface="Calibri"/>
              </a:defRPr>
            </a:pPr>
            <a:r>
              <a:t>Campus placement cells &amp; career offices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617720"/>
            <a:ext cx="411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8C44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61772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5F5F7"/>
                </a:solidFill>
                <a:latin typeface="Calibri"/>
              </a:defRPr>
            </a:pPr>
            <a:r>
              <a:t>EdTech partnerships &amp; white-label coaching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074920"/>
            <a:ext cx="411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8C44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507492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5F5F7"/>
                </a:solidFill>
                <a:latin typeface="Calibri"/>
              </a:defRPr>
            </a:pPr>
            <a:r>
              <a:t>Direct B2C via social &amp; creator channels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532120"/>
            <a:ext cx="411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8C44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553212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5F5F7"/>
                </a:solidFill>
                <a:latin typeface="Calibri"/>
              </a:defRPr>
            </a:pPr>
            <a:r>
              <a:t>University clubs &amp; placement bootcamps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B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730</Words>
  <Application>Microsoft Office PowerPoint</Application>
  <PresentationFormat>Widescreen</PresentationFormat>
  <Paragraphs>126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Kartikay Sharma</dc:creator>
  <cp:keywords/>
  <dc:description>generated using python-pptx</dc:description>
  <cp:lastModifiedBy>Kartikay Sharma</cp:lastModifiedBy>
  <cp:revision>2</cp:revision>
  <dcterms:created xsi:type="dcterms:W3CDTF">2013-01-27T09:14:16Z</dcterms:created>
  <dcterms:modified xsi:type="dcterms:W3CDTF">2026-07-19T15:27:11Z</dcterms:modified>
  <cp:category/>
</cp:coreProperties>
</file>